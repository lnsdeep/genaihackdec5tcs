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Interphases" charset="1" panose="02000503020000020004"/>
      <p:regular r:id="rId17"/>
    </p:embeddedFont>
    <p:embeddedFont>
      <p:font typeface="Cooper BT Light" charset="1" panose="0208050304030B020404"/>
      <p:regular r:id="rId18"/>
    </p:embeddedFont>
    <p:embeddedFont>
      <p:font typeface="TT Interphases Bold" charset="1" panose="02000803060000020004"/>
      <p:regular r:id="rId19"/>
    </p:embeddedFont>
    <p:embeddedFont>
      <p:font typeface="Cooper BT Medium" charset="1" panose="0208060305030B02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559B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5398824"/>
            <a:chOff x="0" y="0"/>
            <a:chExt cx="11099800" cy="71984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02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Workflow Automation Assistant Presentation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8600"/>
              <a:ext cx="11099800" cy="5990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AI-Powered Customer Experience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[Professional Title or Role]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[Presenter's First and Last Name]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Today's customer support is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overwhelmed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by numerous simultaneous interactions, leading to inefficiencies and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missed opportunities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 Agents struggle to maintain consistency in responses and sentiment amid the chaos.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Modern Support Chaos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559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3017520"/>
            <a:chOff x="0" y="0"/>
            <a:chExt cx="11099800" cy="40233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43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 transforms workflows by enabling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real-time multilingual understanding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emotional detection, significantly enhancing customer experiences while reducing manual effort and improving resolution times.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1740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Why AI Matters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559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5113020"/>
            <a:chOff x="0" y="0"/>
            <a:chExt cx="11099800" cy="68173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371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Our MVP features a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Streamlit-based tri-panel UI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that enables real-time sentiment analysis, multilingual translation, and automated CRM-ready summaries, significantly enhancing customer support operations.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Our 2-Hour MVP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433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Intelligent Support Co-Pilot Overview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559B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5400000">
            <a:off x="6176504" y="61454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352800"/>
            <a:ext cx="8324850" cy="4217670"/>
            <a:chOff x="0" y="0"/>
            <a:chExt cx="11099800" cy="56235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300"/>
              <a:ext cx="110998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Our architecture features a </a:t>
              </a: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modular design</a:t>
              </a: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that enhances flexibility and scalability, integrating a Streamlit frontend with a robust Python backend, powered by the TCS GenAI Lab for intelligent processing.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0975"/>
              <a:ext cx="11099800" cy="3341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High-Level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559B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38200"/>
            <a:ext cx="16952821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Functional Workflows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4322333"/>
            <a:chOff x="0" y="0"/>
            <a:chExt cx="3429000" cy="57631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Sentiment Agent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20355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Interprets emotional tone and language.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4322371"/>
            <a:chOff x="0" y="0"/>
            <a:chExt cx="3429000" cy="57631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Translation Agent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0360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Normalizes and returns multilingual outputs.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4322519"/>
            <a:chOff x="0" y="0"/>
            <a:chExt cx="3429000" cy="57633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Suggestion Agent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2037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Drafts context-aware reply suggestions.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38200"/>
            <a:ext cx="16952821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Demo Flow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4322333"/>
            <a:chOff x="0" y="0"/>
            <a:chExt cx="3429000" cy="57631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Customer Message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20355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Customer sends message for assistance.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4322371"/>
            <a:chOff x="0" y="0"/>
            <a:chExt cx="3429000" cy="57631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Suggestions Generated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0360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Copilot generates reply suggestions quickly.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4322519"/>
            <a:chOff x="0" y="0"/>
            <a:chExt cx="3429000" cy="57633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49425"/>
              <a:ext cx="3429000" cy="129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Agent Response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2037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Agent selects or customizes response.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9559B1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3048001"/>
            <a:chOff x="0" y="0"/>
            <a:chExt cx="9182100" cy="406400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545841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Enhancing customer support through automation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1450"/>
              <a:ext cx="9182100" cy="2986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Impact &amp; Benefits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1562100"/>
            <a:ext cx="6886575" cy="1294130"/>
            <a:chOff x="0" y="0"/>
            <a:chExt cx="9182100" cy="17255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Faster Response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Reduces customer wait times significantly for support.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354706"/>
            <a:ext cx="6886575" cy="1294130"/>
            <a:chOff x="0" y="0"/>
            <a:chExt cx="9182100" cy="172550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Higher Consistency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Ensures uniform service quality across all interactions.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96400" y="5144135"/>
            <a:ext cx="6886575" cy="1294130"/>
            <a:chOff x="0" y="0"/>
            <a:chExt cx="9182100" cy="172550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Improved Satisfaction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Boosts customer happiness and loyalty through efficiency.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96400" y="6933565"/>
            <a:ext cx="6886575" cy="1294130"/>
            <a:chOff x="0" y="0"/>
            <a:chExt cx="9182100" cy="172550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918210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Enterprise Ready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86646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Seamlessly integrates into existing business infrastructures.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1671190" y="6942954"/>
            <a:ext cx="21630379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6954500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Future Development Roadmap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700588" y="6814366"/>
            <a:ext cx="257175" cy="25717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66366" y="6814366"/>
            <a:ext cx="257175" cy="25717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35000" y="6814366"/>
            <a:ext cx="257175" cy="25717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82238" y="6814366"/>
            <a:ext cx="257175" cy="2571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4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97752" y="3352800"/>
            <a:ext cx="1062847" cy="1190561"/>
          </a:xfrm>
          <a:custGeom>
            <a:avLst/>
            <a:gdLst/>
            <a:ahLst/>
            <a:cxnLst/>
            <a:rect r="r" b="b" t="t" l="l"/>
            <a:pathLst>
              <a:path h="1190561" w="1062847">
                <a:moveTo>
                  <a:pt x="0" y="0"/>
                </a:moveTo>
                <a:lnTo>
                  <a:pt x="1062846" y="0"/>
                </a:lnTo>
                <a:lnTo>
                  <a:pt x="1062846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7159921" y="3352800"/>
            <a:ext cx="1101811" cy="1190561"/>
          </a:xfrm>
          <a:custGeom>
            <a:avLst/>
            <a:gdLst/>
            <a:ahLst/>
            <a:cxnLst/>
            <a:rect r="r" b="b" t="t" l="l"/>
            <a:pathLst>
              <a:path h="1190561" w="1101811">
                <a:moveTo>
                  <a:pt x="0" y="0"/>
                </a:moveTo>
                <a:lnTo>
                  <a:pt x="1101810" y="0"/>
                </a:lnTo>
                <a:lnTo>
                  <a:pt x="1101810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033225" y="3352800"/>
            <a:ext cx="1123457" cy="1190561"/>
          </a:xfrm>
          <a:custGeom>
            <a:avLst/>
            <a:gdLst/>
            <a:ahLst/>
            <a:cxnLst/>
            <a:rect r="r" b="b" t="t" l="l"/>
            <a:pathLst>
              <a:path h="1190561" w="1123457">
                <a:moveTo>
                  <a:pt x="0" y="0"/>
                </a:moveTo>
                <a:lnTo>
                  <a:pt x="1123457" y="0"/>
                </a:lnTo>
                <a:lnTo>
                  <a:pt x="1123457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940823" y="3352800"/>
            <a:ext cx="1045529" cy="1190561"/>
          </a:xfrm>
          <a:custGeom>
            <a:avLst/>
            <a:gdLst/>
            <a:ahLst/>
            <a:cxnLst/>
            <a:rect r="r" b="b" t="t" l="l"/>
            <a:pathLst>
              <a:path h="1190561" w="1045529">
                <a:moveTo>
                  <a:pt x="0" y="0"/>
                </a:moveTo>
                <a:lnTo>
                  <a:pt x="1045529" y="0"/>
                </a:lnTo>
                <a:lnTo>
                  <a:pt x="1045529" y="1190561"/>
                </a:lnTo>
                <a:lnTo>
                  <a:pt x="0" y="1190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3543300" y="5281152"/>
            <a:ext cx="2571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215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Voice-to-Text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43300" y="7795901"/>
            <a:ext cx="2571750" cy="105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4"/>
              </a:lnSpc>
              <a:spcBef>
                <a:spcPct val="0"/>
              </a:spcBef>
            </a:pPr>
            <a:r>
              <a:rPr lang="en-US" sz="2157" spc="-43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Implementing voice recognition for seamless interaction.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30052" y="5281152"/>
            <a:ext cx="25615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215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Callback Scheduler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30052" y="7795901"/>
            <a:ext cx="2561548" cy="105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4"/>
              </a:lnSpc>
              <a:spcBef>
                <a:spcPct val="0"/>
              </a:spcBef>
            </a:pPr>
            <a:r>
              <a:rPr lang="en-US" sz="2157" spc="-43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Automating callback scheduling for better customer experience.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82475" y="5281152"/>
            <a:ext cx="25622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215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Predictive Analytics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82475" y="7795901"/>
            <a:ext cx="2562225" cy="105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4"/>
              </a:lnSpc>
              <a:spcBef>
                <a:spcPct val="0"/>
              </a:spcBef>
            </a:pPr>
            <a:r>
              <a:rPr lang="en-US" sz="2157" spc="-43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Utilizing data for enhancing customer retention strategies.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05925" y="5281152"/>
            <a:ext cx="25622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2157">
                <a:solidFill>
                  <a:srgbClr val="FFFFFF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Ticket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5925" y="7800975"/>
            <a:ext cx="2562225" cy="1058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4"/>
              </a:lnSpc>
              <a:spcBef>
                <a:spcPct val="0"/>
              </a:spcBef>
            </a:pPr>
            <a:r>
              <a:rPr lang="en-US" sz="2157" spc="-43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Integrating ticketing system for issue tracking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1886" y="6666563"/>
            <a:ext cx="8323430" cy="2953687"/>
            <a:chOff x="0" y="0"/>
            <a:chExt cx="2192179" cy="777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2179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179">
                  <a:moveTo>
                    <a:pt x="37205" y="0"/>
                  </a:moveTo>
                  <a:lnTo>
                    <a:pt x="2154974" y="0"/>
                  </a:lnTo>
                  <a:cubicBezTo>
                    <a:pt x="2164841" y="0"/>
                    <a:pt x="2174305" y="3920"/>
                    <a:pt x="2181282" y="10897"/>
                  </a:cubicBezTo>
                  <a:cubicBezTo>
                    <a:pt x="2188259" y="17875"/>
                    <a:pt x="2192179" y="27338"/>
                    <a:pt x="2192179" y="37205"/>
                  </a:cubicBezTo>
                  <a:lnTo>
                    <a:pt x="2192179" y="740720"/>
                  </a:lnTo>
                  <a:cubicBezTo>
                    <a:pt x="2192179" y="750588"/>
                    <a:pt x="2188259" y="760051"/>
                    <a:pt x="2181282" y="767029"/>
                  </a:cubicBezTo>
                  <a:cubicBezTo>
                    <a:pt x="2174305" y="774006"/>
                    <a:pt x="2164841" y="777926"/>
                    <a:pt x="2154974" y="777926"/>
                  </a:cubicBezTo>
                  <a:lnTo>
                    <a:pt x="37205" y="777926"/>
                  </a:lnTo>
                  <a:cubicBezTo>
                    <a:pt x="16657" y="777926"/>
                    <a:pt x="0" y="761268"/>
                    <a:pt x="0" y="740720"/>
                  </a:cubicBezTo>
                  <a:lnTo>
                    <a:pt x="0" y="37205"/>
                  </a:lnTo>
                  <a:cubicBezTo>
                    <a:pt x="0" y="16657"/>
                    <a:pt x="16657" y="0"/>
                    <a:pt x="3720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2179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6563"/>
            <a:ext cx="8324850" cy="2953687"/>
            <a:chOff x="0" y="0"/>
            <a:chExt cx="2192553" cy="777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553" cy="777926"/>
            </a:xfrm>
            <a:custGeom>
              <a:avLst/>
              <a:gdLst/>
              <a:ahLst/>
              <a:cxnLst/>
              <a:rect r="r" b="b" t="t" l="l"/>
              <a:pathLst>
                <a:path h="777926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40727"/>
                  </a:lnTo>
                  <a:cubicBezTo>
                    <a:pt x="2192553" y="750592"/>
                    <a:pt x="2188634" y="760054"/>
                    <a:pt x="2181658" y="767030"/>
                  </a:cubicBezTo>
                  <a:cubicBezTo>
                    <a:pt x="2174682" y="774007"/>
                    <a:pt x="2165220" y="777926"/>
                    <a:pt x="2155354" y="777926"/>
                  </a:cubicBezTo>
                  <a:lnTo>
                    <a:pt x="37199" y="777926"/>
                  </a:lnTo>
                  <a:cubicBezTo>
                    <a:pt x="27333" y="777926"/>
                    <a:pt x="17872" y="774007"/>
                    <a:pt x="10895" y="767030"/>
                  </a:cubicBezTo>
                  <a:cubicBezTo>
                    <a:pt x="3919" y="760054"/>
                    <a:pt x="0" y="750592"/>
                    <a:pt x="0" y="74072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255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7016" y="3352800"/>
            <a:ext cx="5448300" cy="2953687"/>
            <a:chOff x="0" y="0"/>
            <a:chExt cx="1434943" cy="7779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1296" y="3352800"/>
            <a:ext cx="5448300" cy="2953687"/>
            <a:chOff x="0" y="0"/>
            <a:chExt cx="1434943" cy="7779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52800"/>
            <a:ext cx="5448300" cy="2953687"/>
            <a:chOff x="0" y="0"/>
            <a:chExt cx="1434943" cy="7779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4943" cy="777926"/>
            </a:xfrm>
            <a:custGeom>
              <a:avLst/>
              <a:gdLst/>
              <a:ahLst/>
              <a:cxnLst/>
              <a:rect r="r" b="b" t="t" l="l"/>
              <a:pathLst>
                <a:path h="77792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721087"/>
                  </a:lnTo>
                  <a:cubicBezTo>
                    <a:pt x="1434943" y="752478"/>
                    <a:pt x="1409495" y="777926"/>
                    <a:pt x="1378104" y="777926"/>
                  </a:cubicBezTo>
                  <a:lnTo>
                    <a:pt x="56839" y="777926"/>
                  </a:lnTo>
                  <a:cubicBezTo>
                    <a:pt x="25448" y="777926"/>
                    <a:pt x="0" y="752478"/>
                    <a:pt x="0" y="72108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34943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2396" y="3751897"/>
            <a:ext cx="46952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1111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AI Specialist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4109" y="5105400"/>
            <a:ext cx="4693581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11111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Develops and implements AI models for enhanced customer interactions.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109" y="7065661"/>
            <a:ext cx="757184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1111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Data Analyst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399161"/>
            <a:ext cx="744835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11111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Analyzes user data to drive insights and improve workflows.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0346" y="5105400"/>
            <a:ext cx="475137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11111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Creates robust server-side logic to support application operations.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86025" y="3772852"/>
            <a:ext cx="474569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1111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Backend Developer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52102" y="8399161"/>
            <a:ext cx="744835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11111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Ensures system quality and compliance with industry standards.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52102" y="7065661"/>
            <a:ext cx="509357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1111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QA/Compliance Officer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74921" y="3751897"/>
            <a:ext cx="468437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111111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Frontend Developer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6346" y="5105400"/>
            <a:ext cx="4712954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11111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Designs user interfaces for a seamless customer experience.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5025" y="838200"/>
            <a:ext cx="14077950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Meet the Team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172C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8324850" cy="112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Contact Us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5143500"/>
            <a:ext cx="8324850" cy="895350"/>
            <a:chOff x="0" y="0"/>
            <a:chExt cx="11099800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934200"/>
            <a:ext cx="8324850" cy="895350"/>
            <a:chOff x="0" y="0"/>
            <a:chExt cx="11099800" cy="1193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Media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@reallygreatsite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8724900"/>
            <a:ext cx="8324850" cy="895350"/>
            <a:chOff x="0" y="0"/>
            <a:chExt cx="11099800" cy="119380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Phone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AI-Powered Customer Experience</dc:description>
  <dc:identifier>DAG6taHMTo4</dc:identifier>
  <dcterms:modified xsi:type="dcterms:W3CDTF">2011-08-01T06:04:30Z</dcterms:modified>
  <cp:revision>1</cp:revision>
  <dc:title>Presentation - AI-Powered Customer Experience</dc:title>
</cp:coreProperties>
</file>